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0a3062-cd00-9285-bc54-877df06a95d3}">
          <p14:sldIdLst>
            <p14:sldId id="256"/>
            <p14:sldId id="257"/>
          </p14:sldIdLst>
        </p14:section>
        <p14:section name="Build" id="{4ff19f52-9566-a3ef-acea-b4bca1144bc1}">
          <p14:sldIdLst>
            <p14:sldId id="258"/>
            <p14:sldId id="259"/>
            <p14:sldId id="260"/>
            <p14:sldId id="261"/>
          </p14:sldIdLst>
        </p14:section>
        <p14:section name="Ship" id="{316d1b81-df09-f189-4421-afaa7530f1fd}">
          <p14:sldIdLst>
            <p14:sldId id="262"/>
            <p14:sldId id="263"/>
          </p14:sldIdLst>
        </p14:section>
        <p14:section name="Run" id="{b70a7314-e62a-6666-937d-b84990bddfaf}">
          <p14:sldIdLst>
            <p14:sldId id="264"/>
            <p14:sldId id="265"/>
            <p14:sldId id="266"/>
            <p14:sldId id="267"/>
          </p14:sldIdLst>
        </p14:section>
        <p14:section name="Close" id="{3f5fcedf-821d-103c-bedb-69fc35a83ce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app in one line: a warden console for a college hostel. The rest of the talk follows the code from laptop to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modules, one REST API. The room allocation enforces capacity - a full room returns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commit a small change, push, open the Actions tab and watch the stages go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kubectl get pods,svc,ingress -n hostelhub and helm list -n hostelhub, then open hostelhub.local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Argo CD UI, show the hostelhub app Synced and Healthy and the resource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Prometheus Status &gt; Targets shows hostelhub-backend 2/2 UP, then the Grafana HostelHub API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demo: push a change and show the pipeline and the new image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HostelHub  |  DevOps Final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HostelHub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College hostel management system, shipped with a full DevOps pipeline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Tarun Sakala  |  DevOps Final Project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warden console for the whole hostel</a:t>
            </a:r>
            <a:endParaRPr lang="en-US" sz="3600" dirty="0"/>
          </a:p>
        </p:txBody>
      </p:sp>
      <p:sp>
        <p:nvSpPr>
          <p:cNvPr id="3" name="feature-Students"/>
          <p:cNvSpPr/>
          <p:nvPr/>
        </p:nvSpPr>
        <p:spPr>
          <a:xfrm>
            <a:off x="54864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register, edit, remove</a:t>
            </a:r>
            <a:endParaRPr lang="en-US" sz="1400" dirty="0"/>
          </a:p>
        </p:txBody>
      </p:sp>
      <p:sp>
        <p:nvSpPr>
          <p:cNvPr id="6" name="feature-Rooms"/>
          <p:cNvSpPr/>
          <p:nvPr/>
        </p:nvSpPr>
        <p:spPr>
          <a:xfrm>
            <a:off x="288036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063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Rooms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availability, allocate, vacate</a:t>
            </a:r>
            <a:endParaRPr lang="en-US" sz="1400" dirty="0"/>
          </a:p>
        </p:txBody>
      </p:sp>
      <p:sp>
        <p:nvSpPr>
          <p:cNvPr id="9" name="feature-Maintenance"/>
          <p:cNvSpPr/>
          <p:nvPr/>
        </p:nvSpPr>
        <p:spPr>
          <a:xfrm>
            <a:off x="548640" y="30175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Maintenance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 with priority + status</a:t>
            </a:r>
            <a:endParaRPr lang="en-US" sz="1400" dirty="0"/>
          </a:p>
        </p:txBody>
      </p:sp>
      <p:sp>
        <p:nvSpPr>
          <p:cNvPr id="12" name="feature-Complaints"/>
          <p:cNvSpPr/>
          <p:nvPr/>
        </p:nvSpPr>
        <p:spPr>
          <a:xfrm>
            <a:off x="2880360" y="30175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632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Complaints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raise, track, resolve</a:t>
            </a:r>
            <a:endParaRPr lang="en-US" sz="1400" dirty="0"/>
          </a:p>
        </p:txBody>
      </p:sp>
      <p:sp>
        <p:nvSpPr>
          <p:cNvPr id="15" name="feature-Visitors"/>
          <p:cNvSpPr/>
          <p:nvPr/>
        </p:nvSpPr>
        <p:spPr>
          <a:xfrm>
            <a:off x="548640" y="46177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Visitors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57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check-in / check-out log</a:t>
            </a:r>
            <a:endParaRPr lang="en-US" sz="1400" dirty="0"/>
          </a:p>
        </p:txBody>
      </p:sp>
      <p:sp>
        <p:nvSpPr>
          <p:cNvPr id="18" name="feature-Fees"/>
          <p:cNvSpPr/>
          <p:nvPr/>
        </p:nvSpPr>
        <p:spPr>
          <a:xfrm>
            <a:off x="2880360" y="46177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06324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257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term, pending / paid / overdue</a:t>
            </a:r>
            <a:endParaRPr lang="en-US" sz="1400" dirty="0"/>
          </a:p>
        </p:txBody>
      </p:sp>
      <p:pic>
        <p:nvPicPr>
          <p:cNvPr id="21" name="dashboard-shot" descr="C:/Users/tarun/OneDrive/Attachments/Desktop/hero/hostelhub/docs/screenshots/10-ui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417320"/>
            <a:ext cx="6172200" cy="3840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40680" y="534924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Dashboard: occupancy, pending fees, open issues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request path</a:t>
            </a:r>
            <a:endParaRPr lang="en-US" sz="3600" dirty="0"/>
          </a:p>
        </p:txBody>
      </p:sp>
      <p:sp>
        <p:nvSpPr>
          <p:cNvPr id="3" name="tier-Browser"/>
          <p:cNvSpPr/>
          <p:nvPr/>
        </p:nvSpPr>
        <p:spPr>
          <a:xfrm>
            <a:off x="54864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8AA1B8"/>
          </a:solidFill>
          <a:ln w="12700">
            <a:solidFill>
              <a:srgbClr val="8AA1B8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Browser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 + Vite 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3580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er-Frontend"/>
          <p:cNvSpPr/>
          <p:nvPr/>
        </p:nvSpPr>
        <p:spPr>
          <a:xfrm>
            <a:off x="342900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nginx (non-root)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proxies /api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1616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ier-Backend"/>
          <p:cNvSpPr/>
          <p:nvPr/>
        </p:nvSpPr>
        <p:spPr>
          <a:xfrm>
            <a:off x="630936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FastAPI + SQLAlchemy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/health /ready /metrics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9652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ier-Database"/>
          <p:cNvSpPr/>
          <p:nvPr/>
        </p:nvSpPr>
        <p:spPr>
          <a:xfrm>
            <a:off x="918972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7260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Database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PostgreSQL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Alembic migrations</a:t>
            </a:r>
            <a:endParaRPr lang="en-US" sz="1400" dirty="0"/>
          </a:p>
        </p:txBody>
      </p:sp>
      <p:sp>
        <p:nvSpPr>
          <p:cNvPr id="18" name="prom-box"/>
          <p:cNvSpPr/>
          <p:nvPr/>
        </p:nvSpPr>
        <p:spPr>
          <a:xfrm>
            <a:off x="6309360" y="42976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Prometheus scrapes /metrics  →  Grafana panels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rate, p95 latency, 5xx rate</a:t>
            </a:r>
            <a:endParaRPr lang="en-US" sz="1400" dirty="0"/>
          </a:p>
        </p:txBody>
      </p:sp>
      <p:sp>
        <p:nvSpPr>
          <p:cNvPr id="21" name="ingress-box"/>
          <p:cNvSpPr/>
          <p:nvPr/>
        </p:nvSpPr>
        <p:spPr>
          <a:xfrm>
            <a:off x="548640" y="42976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Ingress hostelhub.local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92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 → frontend    /api → backend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tack-0"/>
          <p:cNvSpPr/>
          <p:nvPr/>
        </p:nvSpPr>
        <p:spPr>
          <a:xfrm>
            <a:off x="548640" y="137160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3.13, FastAPI, SQLAlchemy 2, Alembic</a:t>
            </a:r>
            <a:endParaRPr lang="en-US" sz="1400" dirty="0"/>
          </a:p>
        </p:txBody>
      </p:sp>
      <p:sp>
        <p:nvSpPr>
          <p:cNvPr id="7" name="stack-1"/>
          <p:cNvSpPr/>
          <p:nvPr/>
        </p:nvSpPr>
        <p:spPr>
          <a:xfrm>
            <a:off x="6172200" y="137160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1371600"/>
            <a:ext cx="109728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19, Vite, nginx (unprivileged)</a:t>
            </a:r>
            <a:endParaRPr lang="en-US" sz="1400" dirty="0"/>
          </a:p>
        </p:txBody>
      </p:sp>
      <p:sp>
        <p:nvSpPr>
          <p:cNvPr id="11" name="stack-2"/>
          <p:cNvSpPr/>
          <p:nvPr/>
        </p:nvSpPr>
        <p:spPr>
          <a:xfrm>
            <a:off x="548640" y="23317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109728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16</a:t>
            </a:r>
            <a:endParaRPr lang="en-US" sz="1400" dirty="0"/>
          </a:p>
        </p:txBody>
      </p:sp>
      <p:sp>
        <p:nvSpPr>
          <p:cNvPr id="15" name="stack-3"/>
          <p:cNvSpPr/>
          <p:nvPr/>
        </p:nvSpPr>
        <p:spPr>
          <a:xfrm>
            <a:off x="6172200" y="23317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331720"/>
            <a:ext cx="109728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pytest, in-memory SQLite, ruff</a:t>
            </a:r>
            <a:endParaRPr lang="en-US" sz="1400" dirty="0"/>
          </a:p>
        </p:txBody>
      </p:sp>
      <p:sp>
        <p:nvSpPr>
          <p:cNvPr id="19" name="stack-4"/>
          <p:cNvSpPr/>
          <p:nvPr/>
        </p:nvSpPr>
        <p:spPr>
          <a:xfrm>
            <a:off x="548640" y="329184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91840"/>
            <a:ext cx="109728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multi-stage, docker compose</a:t>
            </a:r>
            <a:endParaRPr lang="en-US" sz="1400" dirty="0"/>
          </a:p>
        </p:txBody>
      </p:sp>
      <p:sp>
        <p:nvSpPr>
          <p:cNvPr id="23" name="stack-5"/>
          <p:cNvSpPr/>
          <p:nvPr/>
        </p:nvSpPr>
        <p:spPr>
          <a:xfrm>
            <a:off x="6172200" y="329184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291840"/>
            <a:ext cx="109728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CI/CD + security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Actions, GHCR, Trivy</a:t>
            </a:r>
            <a:endParaRPr lang="en-US" sz="1400" dirty="0"/>
          </a:p>
        </p:txBody>
      </p:sp>
      <p:sp>
        <p:nvSpPr>
          <p:cNvPr id="27" name="stack-6"/>
          <p:cNvSpPr/>
          <p:nvPr/>
        </p:nvSpPr>
        <p:spPr>
          <a:xfrm>
            <a:off x="548640" y="42519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51960"/>
            <a:ext cx="109728" cy="82296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251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251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Helm chart, nginx Ingress, HPA, minikube</a:t>
            </a:r>
            <a:endParaRPr lang="en-US" sz="1400" dirty="0"/>
          </a:p>
        </p:txBody>
      </p:sp>
      <p:sp>
        <p:nvSpPr>
          <p:cNvPr id="31" name="stack-7"/>
          <p:cNvSpPr/>
          <p:nvPr/>
        </p:nvSpPr>
        <p:spPr>
          <a:xfrm>
            <a:off x="6172200" y="42519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4251960"/>
            <a:ext cx="109728" cy="82296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4251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GitOps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4251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Argo CD</a:t>
            </a:r>
            <a:endParaRPr lang="en-US" sz="1400" dirty="0"/>
          </a:p>
        </p:txBody>
      </p:sp>
      <p:sp>
        <p:nvSpPr>
          <p:cNvPr id="35" name="stack-8"/>
          <p:cNvSpPr/>
          <p:nvPr/>
        </p:nvSpPr>
        <p:spPr>
          <a:xfrm>
            <a:off x="548640" y="521208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212080"/>
            <a:ext cx="109728" cy="82296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5212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 IaC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2743200" y="5212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Terraform, AWS VPC + EKS</a:t>
            </a:r>
            <a:endParaRPr lang="en-US" sz="1400" dirty="0"/>
          </a:p>
        </p:txBody>
      </p:sp>
      <p:sp>
        <p:nvSpPr>
          <p:cNvPr id="39" name="stack-9"/>
          <p:cNvSpPr/>
          <p:nvPr/>
        </p:nvSpPr>
        <p:spPr>
          <a:xfrm>
            <a:off x="6172200" y="521208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5212080"/>
            <a:ext cx="109728" cy="822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92240" y="5212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Observability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5212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Prometheus, Grafana, kube-prometheus-stack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run before anything is built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pytest cases, all passing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In-memory SQLite, never the real 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Covers every module + /health, /metrics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Capacity rule: full room → 409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ruff lint in the same CI job</a:t>
            </a:r>
            <a:endParaRPr lang="en-US" sz="1500" dirty="0"/>
          </a:p>
        </p:txBody>
      </p:sp>
      <p:pic>
        <p:nvPicPr>
          <p:cNvPr id="6" name="pytest-shot" descr="C:/Users/tarun/OneDrive/Attachments/Desktop/hero/hostelhub/docs/screenshots/01-py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417320"/>
            <a:ext cx="731520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brings up the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 image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slim, pip removed after install, uid 10001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 image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multi-stage: node build → nginx-unprivileged, uid 101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Compose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 healthcheck gates backend, named volume keeps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400" dirty="0"/>
          </a:p>
        </p:txBody>
      </p:sp>
      <p:pic>
        <p:nvPicPr>
          <p:cNvPr id="16" name="compose-ps-shot" descr="C:/Users/tarun/OneDrive/Attachments/Desktop/hero/hostelhub/docs/screenshots/03-compose-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463040"/>
            <a:ext cx="6858000" cy="1188720"/>
          </a:xfrm>
          <a:prstGeom prst="rect">
            <a:avLst/>
          </a:prstGeom>
        </p:spPr>
      </p:pic>
      <p:pic>
        <p:nvPicPr>
          <p:cNvPr id="17" name="rooms-shot" descr="C:/Users/tarun/OneDrive/Attachments/Desktop/hero/hostelhub/docs/screenshots/11-ui-room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834640"/>
            <a:ext cx="685800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push to main runs the pipeline</a:t>
            </a:r>
            <a:endParaRPr lang="en-US" sz="3600" dirty="0"/>
          </a:p>
        </p:txBody>
      </p:sp>
      <p:sp>
        <p:nvSpPr>
          <p:cNvPr id="3" name="stage-0"/>
          <p:cNvSpPr/>
          <p:nvPr/>
        </p:nvSpPr>
        <p:spPr>
          <a:xfrm>
            <a:off x="548640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pytest + ruff</a:t>
            </a:r>
            <a:endParaRPr lang="en-US" sz="1300" dirty="0"/>
          </a:p>
        </p:txBody>
      </p:sp>
      <p:sp>
        <p:nvSpPr>
          <p:cNvPr id="8" name="stage-1"/>
          <p:cNvSpPr/>
          <p:nvPr/>
        </p:nvSpPr>
        <p:spPr>
          <a:xfrm>
            <a:off x="2441448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24328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243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Frontend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npm ci + build</a:t>
            </a:r>
            <a:endParaRPr lang="en-US" sz="1300" dirty="0"/>
          </a:p>
        </p:txBody>
      </p:sp>
      <p:sp>
        <p:nvSpPr>
          <p:cNvPr id="13" name="stage-2"/>
          <p:cNvSpPr/>
          <p:nvPr/>
        </p:nvSpPr>
        <p:spPr>
          <a:xfrm>
            <a:off x="4334256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171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Build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both images, tag = git SHA</a:t>
            </a:r>
            <a:endParaRPr lang="en-US" sz="1300" dirty="0"/>
          </a:p>
        </p:txBody>
      </p:sp>
      <p:sp>
        <p:nvSpPr>
          <p:cNvPr id="18" name="stage-3"/>
          <p:cNvSpPr/>
          <p:nvPr/>
        </p:nvSpPr>
        <p:spPr>
          <a:xfrm>
            <a:off x="6227064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Trivy gate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fail on HIGH / CRITICAL</a:t>
            </a:r>
            <a:endParaRPr lang="en-US" sz="1300" dirty="0"/>
          </a:p>
        </p:txBody>
      </p:sp>
      <p:sp>
        <p:nvSpPr>
          <p:cNvPr id="23" name="stage-4"/>
          <p:cNvSpPr/>
          <p:nvPr/>
        </p:nvSpPr>
        <p:spPr>
          <a:xfrm>
            <a:off x="8119872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02752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GHCR push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only on main</a:t>
            </a:r>
            <a:endParaRPr lang="en-US" sz="1300" dirty="0"/>
          </a:p>
        </p:txBody>
      </p:sp>
      <p:sp>
        <p:nvSpPr>
          <p:cNvPr id="28" name="stage-5"/>
          <p:cNvSpPr/>
          <p:nvPr/>
        </p:nvSpPr>
        <p:spPr>
          <a:xfrm>
            <a:off x="10012680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95560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955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Deploy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kind + Helm, smoke /health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Only GITHUB_TOKEN is used. No secrets in the repo, no :latest tags.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.github/workflows/ci-cd.yml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gate, not a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fixable HIGH / CRITICAL CVEs in either image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First backend scan failed with 4 HIGH findings in pip's own bundled libs. Fix: uninstall pip from the runtime image. Both containers also run as non-root.</a:t>
            </a:r>
            <a:endParaRPr lang="en-US" sz="1500" dirty="0"/>
          </a:p>
        </p:txBody>
      </p:sp>
      <p:pic>
        <p:nvPicPr>
          <p:cNvPr id="6" name="trivy-backend" descr="C:/Users/tarun/OneDrive/Attachments/Desktop/hero/hostelhub/docs/screenshots/20-trivy-back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417320"/>
            <a:ext cx="7315200" cy="2286000"/>
          </a:xfrm>
          <a:prstGeom prst="rect">
            <a:avLst/>
          </a:prstGeom>
        </p:spPr>
      </p:pic>
      <p:pic>
        <p:nvPicPr>
          <p:cNvPr id="7" name="trivy-frontend" descr="C:/Users/tarun/OneDrive/Attachments/Desktop/hero/hostelhub/docs/screenshots/21-trivy-fronte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3840480"/>
            <a:ext cx="7315200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 packages the whole app</a:t>
            </a:r>
            <a:endParaRPr lang="en-US" sz="3600" dirty="0"/>
          </a:p>
        </p:txBody>
      </p:sp>
      <p:sp>
        <p:nvSpPr>
          <p:cNvPr id="3" name="k8s-Deployments"/>
          <p:cNvSpPr/>
          <p:nvPr/>
        </p:nvSpPr>
        <p:spPr>
          <a:xfrm>
            <a:off x="54864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+ frontend, 2 replicas each</a:t>
            </a:r>
            <a:endParaRPr lang="en-US" sz="1400" dirty="0"/>
          </a:p>
        </p:txBody>
      </p:sp>
      <p:sp>
        <p:nvSpPr>
          <p:cNvPr id="6" name="k8s-Probes"/>
          <p:cNvSpPr/>
          <p:nvPr/>
        </p:nvSpPr>
        <p:spPr>
          <a:xfrm>
            <a:off x="429768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liveness /health, readiness /ready</a:t>
            </a:r>
            <a:endParaRPr lang="en-US" sz="1400" dirty="0"/>
          </a:p>
        </p:txBody>
      </p:sp>
      <p:sp>
        <p:nvSpPr>
          <p:cNvPr id="9" name="k8s-Postgres"/>
          <p:cNvSpPr/>
          <p:nvPr/>
        </p:nvSpPr>
        <p:spPr>
          <a:xfrm>
            <a:off x="804672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Postgres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StatefulSet + PVC + Secret</a:t>
            </a:r>
            <a:endParaRPr lang="en-US" sz="1400" dirty="0"/>
          </a:p>
        </p:txBody>
      </p:sp>
      <p:sp>
        <p:nvSpPr>
          <p:cNvPr id="12" name="k8s-Ingress"/>
          <p:cNvSpPr/>
          <p:nvPr/>
        </p:nvSpPr>
        <p:spPr>
          <a:xfrm>
            <a:off x="54864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Ingress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 → frontend, /api → backend</a:t>
            </a:r>
            <a:endParaRPr lang="en-US" sz="1400" dirty="0"/>
          </a:p>
        </p:txBody>
      </p:sp>
      <p:sp>
        <p:nvSpPr>
          <p:cNvPr id="15" name="k8s-HPA"/>
          <p:cNvSpPr/>
          <p:nvPr/>
        </p:nvSpPr>
        <p:spPr>
          <a:xfrm>
            <a:off x="429768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262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HPA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scales on CPU</a:t>
            </a:r>
            <a:endParaRPr lang="en-US" sz="1400" dirty="0"/>
          </a:p>
        </p:txBody>
      </p:sp>
      <p:sp>
        <p:nvSpPr>
          <p:cNvPr id="18" name="k8s-ServiceMonitor"/>
          <p:cNvSpPr/>
          <p:nvPr/>
        </p:nvSpPr>
        <p:spPr>
          <a:xfrm>
            <a:off x="804672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ServiceMonitor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 scrape config</a:t>
            </a:r>
            <a:endParaRPr lang="en-US" sz="1400" dirty="0"/>
          </a:p>
        </p:txBody>
      </p:sp>
      <p:pic>
        <p:nvPicPr>
          <p:cNvPr id="21" name="pods-shot" descr="C:/Users/tarun/OneDrive/Attachments/Desktop/hero/hostelhub/docs/screenshots/40-kubectl-get-po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26280"/>
            <a:ext cx="6766560" cy="16916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58952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Running on minikube: 2 backend + 2 frontend pods, Postgres StatefulSet, nginx Ingress at hostelhub.local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GitOps: git is the source of truth</a:t>
            </a:r>
            <a:endParaRPr lang="en-US" sz="3600" dirty="0"/>
          </a:p>
        </p:txBody>
      </p:sp>
      <p:sp>
        <p:nvSpPr>
          <p:cNvPr id="3" name="flow-0"/>
          <p:cNvSpPr/>
          <p:nvPr/>
        </p:nvSpPr>
        <p:spPr>
          <a:xfrm>
            <a:off x="548640" y="1463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Push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code to 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54096" y="1965960"/>
            <a:ext cx="29260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-1"/>
          <p:cNvSpPr/>
          <p:nvPr/>
        </p:nvSpPr>
        <p:spPr>
          <a:xfrm>
            <a:off x="3383280" y="1463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00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tests, Trivy, image :sha to GHCR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88736" y="1965960"/>
            <a:ext cx="29260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2"/>
          <p:cNvSpPr/>
          <p:nvPr/>
        </p:nvSpPr>
        <p:spPr>
          <a:xfrm>
            <a:off x="6217920" y="1463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Bump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tag in values-gitops.yaml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23376" y="1965960"/>
            <a:ext cx="292608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low-3"/>
          <p:cNvSpPr/>
          <p:nvPr/>
        </p:nvSpPr>
        <p:spPr>
          <a:xfrm>
            <a:off x="9052560" y="1463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1600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Argo CD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sees the commit, syncs</a:t>
            </a:r>
            <a:endParaRPr lang="en-US" sz="1300" dirty="0"/>
          </a:p>
        </p:txBody>
      </p:sp>
      <p:pic>
        <p:nvPicPr>
          <p:cNvPr id="26" name="argocd-shot" descr="C:/Users/tarun/OneDrive/Attachments/Desktop/hero/hostelhub/docs/screenshots/47-argocd-app-syn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108960"/>
            <a:ext cx="7498080" cy="31089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21040" y="32004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argocd/application.yaml points at helm/hostelhub on main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sync with prune + selfHeal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 password in a Secret made by hand, never in 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infrastructure as code</a:t>
            </a:r>
            <a:endParaRPr lang="en-US" sz="3600" dirty="0"/>
          </a:p>
        </p:txBody>
      </p:sp>
      <p:sp>
        <p:nvSpPr>
          <p:cNvPr id="3" name="vpc-box"/>
          <p:cNvSpPr/>
          <p:nvPr/>
        </p:nvSpPr>
        <p:spPr>
          <a:xfrm>
            <a:off x="548640" y="1463040"/>
            <a:ext cx="6583680" cy="4206240"/>
          </a:xfrm>
          <a:prstGeom prst="roundRect">
            <a:avLst>
              <a:gd name="adj" fmla="val 26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VPC  10.40.0.0/16</a:t>
            </a:r>
            <a:endParaRPr lang="en-US" sz="1800" dirty="0"/>
          </a:p>
        </p:txBody>
      </p:sp>
      <p:sp>
        <p:nvSpPr>
          <p:cNvPr id="5" name="subnet-0"/>
          <p:cNvSpPr/>
          <p:nvPr/>
        </p:nvSpPr>
        <p:spPr>
          <a:xfrm>
            <a:off x="777240" y="21488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 subnet A</a:t>
            </a:r>
            <a:endParaRPr lang="en-US" sz="1500" dirty="0"/>
          </a:p>
        </p:txBody>
      </p:sp>
      <p:sp>
        <p:nvSpPr>
          <p:cNvPr id="7" name="subnet-1"/>
          <p:cNvSpPr/>
          <p:nvPr/>
        </p:nvSpPr>
        <p:spPr>
          <a:xfrm>
            <a:off x="3886200" y="21488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6908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 subnet B</a:t>
            </a:r>
            <a:endParaRPr lang="en-US" sz="1500" dirty="0"/>
          </a:p>
        </p:txBody>
      </p:sp>
      <p:sp>
        <p:nvSpPr>
          <p:cNvPr id="9" name="subnet-2"/>
          <p:cNvSpPr/>
          <p:nvPr/>
        </p:nvSpPr>
        <p:spPr>
          <a:xfrm>
            <a:off x="777240" y="30632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Private subnet A</a:t>
            </a:r>
            <a:endParaRPr lang="en-US" sz="1500" dirty="0"/>
          </a:p>
        </p:txBody>
      </p:sp>
      <p:sp>
        <p:nvSpPr>
          <p:cNvPr id="11" name="subnet-3"/>
          <p:cNvSpPr/>
          <p:nvPr/>
        </p:nvSpPr>
        <p:spPr>
          <a:xfrm>
            <a:off x="3886200" y="30632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0690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Private subnet B</a:t>
            </a:r>
            <a:endParaRPr lang="en-US" sz="1500" dirty="0"/>
          </a:p>
        </p:txBody>
      </p:sp>
      <p:sp>
        <p:nvSpPr>
          <p:cNvPr id="13" name="eks-box"/>
          <p:cNvSpPr/>
          <p:nvPr/>
        </p:nvSpPr>
        <p:spPr>
          <a:xfrm>
            <a:off x="777240" y="406908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EKS cluster + managed node group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63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terraform-aws-modules vpc + eks, IGW, route tables, NAT gateway (toggle)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5544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versions.tf, variables.tf, main.tf, outputs.tf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terraform.tfvars.example only, no keys committed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fmt + init + validate pass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→ apply → destroy run on a local AWS mock (Moto): EKS + node group ACTIVE</a:t>
            </a:r>
            <a:endParaRPr lang="en-US" sz="1500" dirty="0"/>
          </a:p>
        </p:txBody>
      </p:sp>
      <p:pic>
        <p:nvPicPr>
          <p:cNvPr id="17" name="tf-shot" descr="C:/Users/tarun/OneDrive/Attachments/Desktop/hero/hostelhub/docs/screenshots/24-terraform-valid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4206240"/>
            <a:ext cx="411480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from the first request</a:t>
            </a:r>
            <a:endParaRPr lang="en-US" sz="3600" dirty="0"/>
          </a:p>
        </p:txBody>
      </p:sp>
      <p:pic>
        <p:nvPicPr>
          <p:cNvPr id="3" name="grafana-shot" descr="C:/Users/tarun/OneDrive/Attachments/Desktop/hero/hostelhub/docs/screenshots/46-grafana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400800" cy="3749040"/>
          </a:xfrm>
          <a:prstGeom prst="rect">
            <a:avLst/>
          </a:prstGeom>
        </p:spPr>
      </p:pic>
      <p:sp>
        <p:nvSpPr>
          <p:cNvPr id="4" name="panel-0"/>
          <p:cNvSpPr/>
          <p:nvPr/>
        </p:nvSpPr>
        <p:spPr>
          <a:xfrm>
            <a:off x="7315200" y="146304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4980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Request rate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rate(http_requests_total[1m])</a:t>
            </a:r>
            <a:endParaRPr lang="en-US" sz="1300" dirty="0"/>
          </a:p>
        </p:txBody>
      </p:sp>
      <p:sp>
        <p:nvSpPr>
          <p:cNvPr id="7" name="panel-1"/>
          <p:cNvSpPr/>
          <p:nvPr/>
        </p:nvSpPr>
        <p:spPr>
          <a:xfrm>
            <a:off x="7315200" y="278892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p95 latency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 ...)</a:t>
            </a:r>
            <a:endParaRPr lang="en-US" sz="1300" dirty="0"/>
          </a:p>
        </p:txBody>
      </p:sp>
      <p:sp>
        <p:nvSpPr>
          <p:cNvPr id="10" name="panel-2"/>
          <p:cNvSpPr/>
          <p:nvPr/>
        </p:nvSpPr>
        <p:spPr>
          <a:xfrm>
            <a:off x="7315200" y="411480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9808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5xx rate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663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status="5xx" / all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kube-prometheus-stack in the cluster, ServiceMonitor scrapes both backend pods (UP), dashboard JSON in monitoring/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600" dirty="0"/>
          </a:p>
        </p:txBody>
      </p:sp>
      <p:sp>
        <p:nvSpPr>
          <p:cNvPr id="3" name="learn-0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Scan early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Trivy failed the first build on pip's own libs. Removing pip fixed it: smaller image, fewer CVEs.</a:t>
            </a:r>
            <a:endParaRPr lang="en-US" sz="1400" dirty="0"/>
          </a:p>
        </p:txBody>
      </p:sp>
      <p:sp>
        <p:nvSpPr>
          <p:cNvPr id="6" name="learn-1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Non-root has side effects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uid 10001 has no passwd entry, so pg_isready needed an explicit -U. Found it in the first cluster deploy.</a:t>
            </a:r>
            <a:endParaRPr lang="en-US" sz="1400" dirty="0"/>
          </a:p>
        </p:txBody>
      </p:sp>
      <p:sp>
        <p:nvSpPr>
          <p:cNvPr id="9" name="learn-2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 checks gate everything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Compose healthcheck, readiness probes and Helm --wait stop a broken release from going live.</a:t>
            </a:r>
            <a:endParaRPr lang="en-US" sz="1400" dirty="0"/>
          </a:p>
        </p:txBody>
      </p:sp>
      <p:sp>
        <p:nvSpPr>
          <p:cNvPr id="12" name="learn-3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secrets out of git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GITHUB_TOKEN in CI, passwords passed at deploy time, tfvars and state git-ignored.</a:t>
            </a:r>
            <a:endParaRPr lang="en-US" sz="1400" dirty="0"/>
          </a:p>
        </p:txBody>
      </p:sp>
      <p:sp>
        <p:nvSpPr>
          <p:cNvPr id="15" name="learn-4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2628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Resources are real limits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Prometheus, Argo CD and two app copies filled a 4 GB minikube. Requests and limits matter.</a:t>
            </a:r>
            <a:endParaRPr lang="en-US" sz="1400" dirty="0"/>
          </a:p>
        </p:txBody>
      </p:sp>
      <p:sp>
        <p:nvSpPr>
          <p:cNvPr id="18" name="learn-5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drives deploys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Argo CD a commit is the deploy, and the cluster heals back to what git says.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laptop to cluster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App, tests, Docker, CI/CD, Trivy, Helm, Argo CD, Terraform and monitoring live in one repo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github.com/tarun250/hostel_management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elHub">
  <a:themeElements>
    <a:clrScheme name="HostelHub">
      <a:dk1>
        <a:srgbClr val="1B2A3A"/>
      </a:dk1>
      <a:lt1>
        <a:srgbClr val="FFFFFF"/>
      </a:lt1>
      <a:dk2>
        <a:srgbClr val="1F3A5F"/>
      </a:dk2>
      <a:lt2>
        <a:srgbClr val="EEF2F6"/>
      </a:lt2>
      <a:accent1>
        <a:srgbClr val="E3A33B"/>
      </a:accent1>
      <a:accent2>
        <a:srgbClr val="2A9D8F"/>
      </a:accent2>
      <a:accent3>
        <a:srgbClr val="C8553D"/>
      </a:accent3>
      <a:accent4>
        <a:srgbClr val="5B7DB1"/>
      </a:accent4>
      <a:accent5>
        <a:srgbClr val="8AA1B8"/>
      </a:accent5>
      <a:accent6>
        <a:srgbClr val="3D5A80"/>
      </a:accent6>
      <a:hlink>
        <a:srgbClr val="2A9D8F"/>
      </a:hlink>
      <a:folHlink>
        <a:srgbClr val="5B7DB1"/>
      </a:folHlink>
    </a:clrScheme>
    <a:fontScheme name="Hostel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HostelHub - DevOps Final Project</dc:title>
  <dc:subject>PptxGenJS Presentation</dc:subject>
  <dc:creator>Tarun Sakala</dc:creator>
  <cp:lastModifiedBy>Tarun Sakala</cp:lastModifiedBy>
  <cp:revision>1</cp:revision>
  <dcterms:created xsi:type="dcterms:W3CDTF">2026-10-11T19:15:07Z</dcterms:created>
  <dcterms:modified xsi:type="dcterms:W3CDTF">2026-10-11T19:15:07Z</dcterms:modified>
</cp:coreProperties>
</file>
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bf9d588-dd5e-1469-51ea-f391396345fc}">
          <p14:sldIdLst>
            <p14:sldId id="256"/>
            <p14:sldId id="257"/>
          </p14:sldIdLst>
        </p14:section>
        <p14:section name="Build" id="{39100d28-5714-5855-72c6-cb42399fafaf}">
          <p14:sldIdLst>
            <p14:sldId id="258"/>
            <p14:sldId id="259"/>
            <p14:sldId id="260"/>
          </p14:sldIdLst>
        </p14:section>
        <p14:section name="Ship" id="{5a17241e-e8d5-eeeb-2861-dd599ed1a0d0}">
          <p14:sldIdLst>
            <p14:sldId id="261"/>
            <p14:sldId id="262"/>
          </p14:sldIdLst>
        </p14:section>
        <p14:section name="Run" id="{379ee106-f5d9-33eb-fce8-b83da498c387}">
          <p14:sldIdLst>
            <p14:sldId id="263"/>
            <p14:sldId id="264"/>
            <p14:sldId id="265"/>
          </p14:sldIdLst>
        </p14:section>
        <p14:section name="Close" id="{6b2ab5b4-1392-2af1-d0c8-fef255a1ce3c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app in one line: a warden console for a college hostel. The rest of the talk follows the code from laptop to cluster.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modules, one REST API. The room allocation enforces capacity - a full room returns 409.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commit a small change, push, open the Actions tab and watch the stages go green.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live demo: push a change and show the pipeline and the new image 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HostelHub  |  DevOps Final Project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HostelHub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College hostel management system, shipped with a full DevOps pipeline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Tarun Sakala  |  DevOps Final Project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warden console for the whole hostel</a:t>
            </a:r>
            <a:endParaRPr lang="en-US" sz="3600" dirty="0"/>
          </a:p>
        </p:txBody>
      </p:sp>
      <p:sp>
        <p:nvSpPr>
          <p:cNvPr id="3" name="feature-Students"/>
          <p:cNvSpPr/>
          <p:nvPr/>
        </p:nvSpPr>
        <p:spPr>
          <a:xfrm>
            <a:off x="548640" y="14173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Students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0574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register, edit, remove</a:t>
            </a:r>
            <a:endParaRPr lang="en-US" sz="1400" dirty="0"/>
          </a:p>
        </p:txBody>
      </p:sp>
      <p:sp>
        <p:nvSpPr>
          <p:cNvPr id="6" name="feature-Rooms"/>
          <p:cNvSpPr/>
          <p:nvPr/>
        </p:nvSpPr>
        <p:spPr>
          <a:xfrm>
            <a:off x="2880360" y="14173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063240" y="16002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Rooms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20574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availability, allocate, vacate</a:t>
            </a:r>
            <a:endParaRPr lang="en-US" sz="1400" dirty="0"/>
          </a:p>
        </p:txBody>
      </p:sp>
      <p:sp>
        <p:nvSpPr>
          <p:cNvPr id="9" name="feature-Maintenance"/>
          <p:cNvSpPr/>
          <p:nvPr/>
        </p:nvSpPr>
        <p:spPr>
          <a:xfrm>
            <a:off x="548640" y="30175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3152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Maintenance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requests with priority + status</a:t>
            </a:r>
            <a:endParaRPr lang="en-US" sz="1400" dirty="0"/>
          </a:p>
        </p:txBody>
      </p:sp>
      <p:sp>
        <p:nvSpPr>
          <p:cNvPr id="12" name="feature-Complaints"/>
          <p:cNvSpPr/>
          <p:nvPr/>
        </p:nvSpPr>
        <p:spPr>
          <a:xfrm>
            <a:off x="2880360" y="30175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63240" y="32004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Complaints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063240" y="3657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raise, track, resolve</a:t>
            </a:r>
            <a:endParaRPr lang="en-US" sz="1400" dirty="0"/>
          </a:p>
        </p:txBody>
      </p:sp>
      <p:sp>
        <p:nvSpPr>
          <p:cNvPr id="15" name="feature-Visitors"/>
          <p:cNvSpPr/>
          <p:nvPr/>
        </p:nvSpPr>
        <p:spPr>
          <a:xfrm>
            <a:off x="548640" y="46177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3152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Visitors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257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check-in / check-out log</a:t>
            </a:r>
            <a:endParaRPr lang="en-US" sz="1400" dirty="0"/>
          </a:p>
        </p:txBody>
      </p:sp>
      <p:sp>
        <p:nvSpPr>
          <p:cNvPr id="18" name="feature-Fees"/>
          <p:cNvSpPr/>
          <p:nvPr/>
        </p:nvSpPr>
        <p:spPr>
          <a:xfrm>
            <a:off x="2880360" y="4617720"/>
            <a:ext cx="2148840" cy="1417320"/>
          </a:xfrm>
          <a:prstGeom prst="roundRect">
            <a:avLst>
              <a:gd name="adj" fmla="val 7742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063240" y="4800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Fees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3063240" y="5257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 term, pending / paid / overdue</a:t>
            </a:r>
            <a:endParaRPr lang="en-US" sz="1400" dirty="0"/>
          </a:p>
        </p:txBody>
      </p:sp>
      <p:pic>
        <p:nvPicPr>
          <p:cNvPr id="21" name="dashboard-shot" descr="C:/Users/tarun/OneDrive/Attachments/Desktop/hero/hostelhub/docs/screenshots/10-ui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40680" y="1417320"/>
            <a:ext cx="6172200" cy="384048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440680" y="5349240"/>
            <a:ext cx="6172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Dashboard: occupancy, pending fees, open issues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tiers, one request path</a:t>
            </a:r>
            <a:endParaRPr lang="en-US" sz="3600" dirty="0"/>
          </a:p>
        </p:txBody>
      </p:sp>
      <p:sp>
        <p:nvSpPr>
          <p:cNvPr id="3" name="tier-Browser"/>
          <p:cNvSpPr/>
          <p:nvPr/>
        </p:nvSpPr>
        <p:spPr>
          <a:xfrm>
            <a:off x="548640" y="1828800"/>
            <a:ext cx="2423160" cy="1828800"/>
          </a:xfrm>
          <a:prstGeom prst="roundRect">
            <a:avLst>
              <a:gd name="adj" fmla="val 6000"/>
            </a:avLst>
          </a:prstGeom>
          <a:solidFill>
            <a:srgbClr val="8AA1B8"/>
          </a:solidFill>
          <a:ln w="12700">
            <a:solidFill>
              <a:srgbClr val="8AA1B8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Browser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60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React + Vite UI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035808" y="2560320"/>
            <a:ext cx="347472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ier-Frontend"/>
          <p:cNvSpPr/>
          <p:nvPr/>
        </p:nvSpPr>
        <p:spPr>
          <a:xfrm>
            <a:off x="3429000" y="1828800"/>
            <a:ext cx="2423160" cy="18288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1188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Frontend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560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nginx (non-root)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proxies /api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16168" y="2560320"/>
            <a:ext cx="347472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ier-Backend"/>
          <p:cNvSpPr/>
          <p:nvPr/>
        </p:nvSpPr>
        <p:spPr>
          <a:xfrm>
            <a:off x="6309360" y="1828800"/>
            <a:ext cx="2423160" cy="182880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Backend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560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FastAPI + SQLAlchemy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/health /ready /metrics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796528" y="2560320"/>
            <a:ext cx="347472" cy="36576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ier-Database"/>
          <p:cNvSpPr/>
          <p:nvPr/>
        </p:nvSpPr>
        <p:spPr>
          <a:xfrm>
            <a:off x="9189720" y="1828800"/>
            <a:ext cx="2423160" cy="1828800"/>
          </a:xfrm>
          <a:prstGeom prst="roundRect">
            <a:avLst>
              <a:gd name="adj" fmla="val 6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372600" y="201168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Database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72600" y="256032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PostgreSQL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Alembic migrations</a:t>
            </a:r>
            <a:endParaRPr lang="en-US" sz="1400" dirty="0"/>
          </a:p>
        </p:txBody>
      </p:sp>
      <p:sp>
        <p:nvSpPr>
          <p:cNvPr id="18" name="prom-box"/>
          <p:cNvSpPr/>
          <p:nvPr/>
        </p:nvSpPr>
        <p:spPr>
          <a:xfrm>
            <a:off x="6309360" y="4297680"/>
            <a:ext cx="5074920" cy="13716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4434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Prometheus scrapes /metrics  →  Grafana panels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4892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request rate, p95 latency, 5xx rate</a:t>
            </a:r>
            <a:endParaRPr lang="en-US" sz="1400" dirty="0"/>
          </a:p>
        </p:txBody>
      </p:sp>
      <p:sp>
        <p:nvSpPr>
          <p:cNvPr id="21" name="ingress-box"/>
          <p:cNvSpPr/>
          <p:nvPr/>
        </p:nvSpPr>
        <p:spPr>
          <a:xfrm>
            <a:off x="548640" y="429768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" y="4434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Ingress hostelhub.local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8920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 → frontend    /api → backend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run before anything is built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pytest cases, all passing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In-memory SQLite, never the real DB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Covers every module + /health, /metrics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Capacity rule: full room → 409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ruff lint in the same CI job</a:t>
            </a:r>
            <a:endParaRPr lang="en-US" sz="1500" dirty="0"/>
          </a:p>
        </p:txBody>
      </p:sp>
      <p:pic>
        <p:nvPicPr>
          <p:cNvPr id="6" name="pytest-shot" descr="C:/Users/tarun/OneDrive/Attachments/Desktop/hero/hostelhub/docs/screenshots/01-pyte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97680" y="1417320"/>
            <a:ext cx="7315200" cy="4754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command brings up the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Backend image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python slim, pip removed after install, uid 10001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Frontend image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30632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multi-stage: node build → nginx-unprivileged, uid 101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3840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Compose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4251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db healthcheck gates backend, named volume keeps data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206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-d --build</a:t>
            </a:r>
            <a:endParaRPr lang="en-US" sz="1400" dirty="0"/>
          </a:p>
        </p:txBody>
      </p:sp>
      <p:pic>
        <p:nvPicPr>
          <p:cNvPr id="16" name="compose-ps-shot" descr="C:/Users/tarun/OneDrive/Attachments/Desktop/hero/hostelhub/docs/screenshots/03-compose-p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463040"/>
            <a:ext cx="6858000" cy="1188720"/>
          </a:xfrm>
          <a:prstGeom prst="rect">
            <a:avLst/>
          </a:prstGeom>
        </p:spPr>
      </p:pic>
      <p:pic>
        <p:nvPicPr>
          <p:cNvPr id="17" name="rooms-shot" descr="C:/Users/tarun/OneDrive/Attachments/Desktop/hero/hostelhub/docs/screenshots/11-ui-room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834640"/>
            <a:ext cx="685800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push to main runs the pipeline</a:t>
            </a:r>
            <a:endParaRPr lang="en-US" sz="3600" dirty="0"/>
          </a:p>
        </p:txBody>
      </p:sp>
      <p:sp>
        <p:nvSpPr>
          <p:cNvPr id="3" name="stage-0"/>
          <p:cNvSpPr/>
          <p:nvPr/>
        </p:nvSpPr>
        <p:spPr>
          <a:xfrm>
            <a:off x="548640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Test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pytest + ruff</a:t>
            </a:r>
            <a:endParaRPr lang="en-US" sz="1300" dirty="0"/>
          </a:p>
        </p:txBody>
      </p:sp>
      <p:sp>
        <p:nvSpPr>
          <p:cNvPr id="8" name="stage-1"/>
          <p:cNvSpPr/>
          <p:nvPr/>
        </p:nvSpPr>
        <p:spPr>
          <a:xfrm>
            <a:off x="2441448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24328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24328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624328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Frontend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624328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npm ci + build</a:t>
            </a:r>
            <a:endParaRPr lang="en-US" sz="1300" dirty="0"/>
          </a:p>
        </p:txBody>
      </p:sp>
      <p:sp>
        <p:nvSpPr>
          <p:cNvPr id="13" name="stage-2"/>
          <p:cNvSpPr/>
          <p:nvPr/>
        </p:nvSpPr>
        <p:spPr>
          <a:xfrm>
            <a:off x="4334256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17136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17136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17136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Build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17136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both images, tag = git SHA</a:t>
            </a:r>
            <a:endParaRPr lang="en-US" sz="1300" dirty="0"/>
          </a:p>
        </p:txBody>
      </p:sp>
      <p:sp>
        <p:nvSpPr>
          <p:cNvPr id="18" name="stage-3"/>
          <p:cNvSpPr/>
          <p:nvPr/>
        </p:nvSpPr>
        <p:spPr>
          <a:xfrm>
            <a:off x="6227064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9944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9944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Trivy gate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fail on HIGH / CRITICAL</a:t>
            </a:r>
            <a:endParaRPr lang="en-US" sz="1300" dirty="0"/>
          </a:p>
        </p:txBody>
      </p:sp>
      <p:sp>
        <p:nvSpPr>
          <p:cNvPr id="23" name="stage-4"/>
          <p:cNvSpPr/>
          <p:nvPr/>
        </p:nvSpPr>
        <p:spPr>
          <a:xfrm>
            <a:off x="8119872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02752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302752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GHCR push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only on main</a:t>
            </a:r>
            <a:endParaRPr lang="en-US" sz="1300" dirty="0"/>
          </a:p>
        </p:txBody>
      </p:sp>
      <p:sp>
        <p:nvSpPr>
          <p:cNvPr id="28" name="stage-5"/>
          <p:cNvSpPr/>
          <p:nvPr/>
        </p:nvSpPr>
        <p:spPr>
          <a:xfrm>
            <a:off x="10012680" y="2011680"/>
            <a:ext cx="1691640" cy="2011680"/>
          </a:xfrm>
          <a:prstGeom prst="roundRect">
            <a:avLst>
              <a:gd name="adj" fmla="val 6486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195560" y="2194560"/>
            <a:ext cx="457200" cy="457200"/>
          </a:xfrm>
          <a:prstGeom prst="ellipse">
            <a:avLst/>
          </a:prstGeom>
          <a:solidFill>
            <a:srgbClr val="E3A33B"/>
          </a:solidFill>
          <a:ln w="12700">
            <a:solidFill>
              <a:srgbClr val="E3A33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955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019556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Deploy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32004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kind + Helm, smoke /health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480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Only GITHUB_TOKEN is used. No secrets in the repo, no :latest tags.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.github/workflows/ci-cd.yml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is a gate, not a report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346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fixable HIGH / CRITICAL CVEs in either image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576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First backend scan failed with 4 HIGH findings in pip's own bundled libs. Fix: uninstall pip from the runtime image. Both containers also run as non-root.</a:t>
            </a:r>
            <a:endParaRPr lang="en-US" sz="1500" dirty="0"/>
          </a:p>
        </p:txBody>
      </p:sp>
      <p:pic>
        <p:nvPicPr>
          <p:cNvPr id="6" name="trivy-backend" descr="C:/Users/tarun/OneDrive/Attachments/Desktop/hero/hostelhub/docs/screenshots/20-trivy-back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97680" y="1417320"/>
            <a:ext cx="7315200" cy="2286000"/>
          </a:xfrm>
          <a:prstGeom prst="rect">
            <a:avLst/>
          </a:prstGeom>
        </p:spPr>
      </p:pic>
      <p:pic>
        <p:nvPicPr>
          <p:cNvPr id="7" name="trivy-frontend" descr="C:/Users/tarun/OneDrive/Attachments/Desktop/hero/hostelhub/docs/screenshots/21-trivy-fronten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97680" y="3840480"/>
            <a:ext cx="7315200" cy="2286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Helm packages the whole app</a:t>
            </a:r>
            <a:endParaRPr lang="en-US" sz="3600" dirty="0"/>
          </a:p>
        </p:txBody>
      </p:sp>
      <p:sp>
        <p:nvSpPr>
          <p:cNvPr id="3" name="k8s-Deployments"/>
          <p:cNvSpPr/>
          <p:nvPr/>
        </p:nvSpPr>
        <p:spPr>
          <a:xfrm>
            <a:off x="548640" y="146304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Deployments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backend + frontend, 2 replicas each</a:t>
            </a:r>
            <a:endParaRPr lang="en-US" sz="1400" dirty="0"/>
          </a:p>
        </p:txBody>
      </p:sp>
      <p:sp>
        <p:nvSpPr>
          <p:cNvPr id="6" name="k8s-Probes"/>
          <p:cNvSpPr/>
          <p:nvPr/>
        </p:nvSpPr>
        <p:spPr>
          <a:xfrm>
            <a:off x="4297680" y="146304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2628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Probes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103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liveness /health, readiness /ready</a:t>
            </a:r>
            <a:endParaRPr lang="en-US" sz="1400" dirty="0"/>
          </a:p>
        </p:txBody>
      </p:sp>
      <p:sp>
        <p:nvSpPr>
          <p:cNvPr id="9" name="k8s-Postgres"/>
          <p:cNvSpPr/>
          <p:nvPr/>
        </p:nvSpPr>
        <p:spPr>
          <a:xfrm>
            <a:off x="8046720" y="146304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275320" y="16459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Postgres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1031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StatefulSet + PVC + Secret</a:t>
            </a:r>
            <a:endParaRPr lang="en-US" sz="1400" dirty="0"/>
          </a:p>
        </p:txBody>
      </p:sp>
      <p:sp>
        <p:nvSpPr>
          <p:cNvPr id="12" name="k8s-Ingress"/>
          <p:cNvSpPr/>
          <p:nvPr/>
        </p:nvSpPr>
        <p:spPr>
          <a:xfrm>
            <a:off x="548640" y="297180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Ingress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 → frontend, /api → backend</a:t>
            </a:r>
            <a:endParaRPr lang="en-US" sz="1400" dirty="0"/>
          </a:p>
        </p:txBody>
      </p:sp>
      <p:sp>
        <p:nvSpPr>
          <p:cNvPr id="15" name="k8s-HPA"/>
          <p:cNvSpPr/>
          <p:nvPr/>
        </p:nvSpPr>
        <p:spPr>
          <a:xfrm>
            <a:off x="4297680" y="297180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2628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HPA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2628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backend scales on CPU</a:t>
            </a:r>
            <a:endParaRPr lang="en-US" sz="1400" dirty="0"/>
          </a:p>
        </p:txBody>
      </p:sp>
      <p:sp>
        <p:nvSpPr>
          <p:cNvPr id="18" name="k8s-ServiceMonitor"/>
          <p:cNvSpPr/>
          <p:nvPr/>
        </p:nvSpPr>
        <p:spPr>
          <a:xfrm>
            <a:off x="8046720" y="2971800"/>
            <a:ext cx="3520440" cy="1280160"/>
          </a:xfrm>
          <a:prstGeom prst="roundRect">
            <a:avLst>
              <a:gd name="adj" fmla="val 857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275320" y="3154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ServiceMonitor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36118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Prometheus scrape config</a:t>
            </a:r>
            <a:endParaRPr lang="en-US" sz="1400" dirty="0"/>
          </a:p>
        </p:txBody>
      </p:sp>
      <p:pic>
        <p:nvPicPr>
          <p:cNvPr id="21" name="helm-lint-shot" descr="C:/Users/tarun/OneDrive/Attachments/Desktop/hero/hostelhub/docs/screenshots/23-helm-li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663440"/>
            <a:ext cx="5669280" cy="9144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6492240" y="48006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values-dev / values-prod  |  helm upgrade --install  |  helm rollback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infrastructure as code</a:t>
            </a:r>
            <a:endParaRPr lang="en-US" sz="3600" dirty="0"/>
          </a:p>
        </p:txBody>
      </p:sp>
      <p:sp>
        <p:nvSpPr>
          <p:cNvPr id="3" name="vpc-box"/>
          <p:cNvSpPr/>
          <p:nvPr/>
        </p:nvSpPr>
        <p:spPr>
          <a:xfrm>
            <a:off x="548640" y="1463040"/>
            <a:ext cx="6583680" cy="4206240"/>
          </a:xfrm>
          <a:prstGeom prst="roundRect">
            <a:avLst>
              <a:gd name="adj" fmla="val 260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VPC  10.40.0.0/16</a:t>
            </a:r>
            <a:endParaRPr lang="en-US" sz="1800" dirty="0"/>
          </a:p>
        </p:txBody>
      </p:sp>
      <p:sp>
        <p:nvSpPr>
          <p:cNvPr id="5" name="subnet-0"/>
          <p:cNvSpPr/>
          <p:nvPr/>
        </p:nvSpPr>
        <p:spPr>
          <a:xfrm>
            <a:off x="777240" y="214884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60120" y="2148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 subnet A</a:t>
            </a:r>
            <a:endParaRPr lang="en-US" sz="1500" dirty="0"/>
          </a:p>
        </p:txBody>
      </p:sp>
      <p:sp>
        <p:nvSpPr>
          <p:cNvPr id="7" name="subnet-1"/>
          <p:cNvSpPr/>
          <p:nvPr/>
        </p:nvSpPr>
        <p:spPr>
          <a:xfrm>
            <a:off x="3886200" y="214884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069080" y="2148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Public subnet B</a:t>
            </a:r>
            <a:endParaRPr lang="en-US" sz="1500" dirty="0"/>
          </a:p>
        </p:txBody>
      </p:sp>
      <p:sp>
        <p:nvSpPr>
          <p:cNvPr id="9" name="subnet-2"/>
          <p:cNvSpPr/>
          <p:nvPr/>
        </p:nvSpPr>
        <p:spPr>
          <a:xfrm>
            <a:off x="777240" y="306324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3063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Private subnet A</a:t>
            </a:r>
            <a:endParaRPr lang="en-US" sz="1500" dirty="0"/>
          </a:p>
        </p:txBody>
      </p:sp>
      <p:sp>
        <p:nvSpPr>
          <p:cNvPr id="11" name="subnet-3"/>
          <p:cNvSpPr/>
          <p:nvPr/>
        </p:nvSpPr>
        <p:spPr>
          <a:xfrm>
            <a:off x="3886200" y="3063240"/>
            <a:ext cx="2926080" cy="731520"/>
          </a:xfrm>
          <a:prstGeom prst="roundRect">
            <a:avLst>
              <a:gd name="adj" fmla="val 15000"/>
            </a:avLst>
          </a:prstGeom>
          <a:solidFill>
            <a:srgbClr val="3D5A80"/>
          </a:solidFill>
          <a:ln w="12700">
            <a:solidFill>
              <a:srgbClr val="3D5A80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069080" y="3063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Private subnet B</a:t>
            </a:r>
            <a:endParaRPr lang="en-US" sz="1500" dirty="0"/>
          </a:p>
        </p:txBody>
      </p:sp>
      <p:sp>
        <p:nvSpPr>
          <p:cNvPr id="13" name="eks-box"/>
          <p:cNvSpPr/>
          <p:nvPr/>
        </p:nvSpPr>
        <p:spPr>
          <a:xfrm>
            <a:off x="777240" y="406908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60120" y="4206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EKS cluster + managed node group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66344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terraform-aws-modules vpc + eks, IGW, route tables, NAT gateway (toggle)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0" y="1554480"/>
            <a:ext cx="4114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versions.tf, variables.tf, main.tf, outputs.tf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terraform.tfvars.example only, no keys committed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fmt + init + validate pass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plan / apply not run: no AWS credentials</a:t>
            </a:r>
            <a:endParaRPr lang="en-US" sz="1500" dirty="0"/>
          </a:p>
        </p:txBody>
      </p:sp>
      <p:pic>
        <p:nvPicPr>
          <p:cNvPr id="17" name="tf-shot" descr="C:/Users/tarun/OneDrive/Attachments/Desktop/hero/hostelhub/docs/screenshots/24-terraform-valid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0" y="4206240"/>
            <a:ext cx="4114800" cy="1463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Metrics from the first request</a:t>
            </a:r>
            <a:endParaRPr lang="en-US" sz="3600" dirty="0"/>
          </a:p>
        </p:txBody>
      </p:sp>
      <p:pic>
        <p:nvPicPr>
          <p:cNvPr id="3" name="metrics-shot" descr="C:/Users/tarun/OneDrive/Attachments/Desktop/hero/hostelhub/docs/screenshots/05-metric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6400800" cy="1828800"/>
          </a:xfrm>
          <a:prstGeom prst="rect">
            <a:avLst/>
          </a:prstGeom>
        </p:spPr>
      </p:pic>
      <p:pic>
        <p:nvPicPr>
          <p:cNvPr id="4" name="health-shot" descr="C:/Users/tarun/OneDrive/Attachments/Desktop/hero/hostelhub/docs/screenshots/04-health-read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474720"/>
            <a:ext cx="6400800" cy="1463040"/>
          </a:xfrm>
          <a:prstGeom prst="rect">
            <a:avLst/>
          </a:prstGeom>
        </p:spPr>
      </p:pic>
      <p:sp>
        <p:nvSpPr>
          <p:cNvPr id="5" name="panel-0"/>
          <p:cNvSpPr/>
          <p:nvPr/>
        </p:nvSpPr>
        <p:spPr>
          <a:xfrm>
            <a:off x="7315200" y="146304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6" name="Text 2"/>
          <p:cNvSpPr txBox="1"/>
          <p:nvPr/>
        </p:nvSpPr>
        <p:spPr>
          <a:xfrm>
            <a:off x="7498080" y="16002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Request rate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7498080" y="2011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rate(http_requests_total[1m])</a:t>
            </a:r>
            <a:endParaRPr lang="en-US" sz="1300" dirty="0"/>
          </a:p>
        </p:txBody>
      </p:sp>
      <p:sp>
        <p:nvSpPr>
          <p:cNvPr id="8" name="panel-1"/>
          <p:cNvSpPr/>
          <p:nvPr/>
        </p:nvSpPr>
        <p:spPr>
          <a:xfrm>
            <a:off x="7315200" y="278892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498080" y="2926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p95 latency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498080" y="33375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histogram_quantile(0.95, ...)</a:t>
            </a:r>
            <a:endParaRPr lang="en-US" sz="1300" dirty="0"/>
          </a:p>
        </p:txBody>
      </p:sp>
      <p:sp>
        <p:nvSpPr>
          <p:cNvPr id="11" name="panel-2"/>
          <p:cNvSpPr/>
          <p:nvPr/>
        </p:nvSpPr>
        <p:spPr>
          <a:xfrm>
            <a:off x="7315200" y="411480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  <a:effectLst>
            <a:outerShdw sx="100000" sy="100000" kx="0" ky="0" algn="bl" rotWithShape="0" blurRad="76200" dist="25400" dir="5400000">
              <a:srgbClr val="8AA1B8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498080" y="42519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5xx rate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46634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status="5xx" / all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257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kube-prometheus-stack values + Grafana dashboard JSON in monitoring/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laptop to cluster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App, tests, Docker, CI/CD, Trivy, Helm, Terraform and monitoring live in one repo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github.com/tarun250/hostelhub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ostelHub">
  <a:themeElements>
    <a:clrScheme name="HostelHub">
      <a:dk1>
        <a:srgbClr val="1B2A3A"/>
      </a:dk1>
      <a:lt1>
        <a:srgbClr val="FFFFFF"/>
      </a:lt1>
      <a:dk2>
        <a:srgbClr val="1F3A5F"/>
      </a:dk2>
      <a:lt2>
        <a:srgbClr val="EEF2F6"/>
      </a:lt2>
      <a:accent1>
        <a:srgbClr val="E3A33B"/>
      </a:accent1>
      <a:accent2>
        <a:srgbClr val="2A9D8F"/>
      </a:accent2>
      <a:accent3>
        <a:srgbClr val="C8553D"/>
      </a:accent3>
      <a:accent4>
        <a:srgbClr val="5B7DB1"/>
      </a:accent4>
      <a:accent5>
        <a:srgbClr val="8AA1B8"/>
      </a:accent5>
      <a:accent6>
        <a:srgbClr val="3D5A80"/>
      </a:accent6>
      <a:hlink>
        <a:srgbClr val="2A9D8F"/>
      </a:hlink>
      <a:folHlink>
        <a:srgbClr val="5B7DB1"/>
      </a:folHlink>
    </a:clrScheme>
    <a:fontScheme name="HostelHu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HostelHub - DevOps Final Project</dc:title>
  <dc:subject>PptxGenJS Presentation</dc:subject>
  <dc:creator>Tarun Sakala</dc:creator>
  <cp:lastModifiedBy>Tarun Sakala</cp:lastModifiedBy>
  <cp:revision>1</cp:revision>
  <dcterms:created xsi:type="dcterms:W3CDTF">2026-10-07T13:03:54Z</dcterms:created>
  <dcterms:modified xsi:type="dcterms:W3CDTF">2026-10-07T13:03:54Z</dcterms:modified>
</cp:coreProperties>
</file>
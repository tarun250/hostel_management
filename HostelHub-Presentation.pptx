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74" r:id="rId24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5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713232"/>
            <a:ext cx="3657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DEVOPS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53312"/>
            <a:ext cx="5486400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4400" b="1">
                <a:solidFill>
                  <a:srgbClr val="F3F7FC"/>
                </a:solidFill>
                <a:latin typeface="Aptos"/>
              </a:rPr>
              <a:t>HostelHub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450592"/>
            <a:ext cx="521208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100" b="0">
                <a:solidFill>
                  <a:srgbClr val="ADBBCF"/>
                </a:solidFill>
                <a:latin typeface="Aptos"/>
              </a:rPr>
              <a:t>A hostel management platform,
packaged and delivered with DevOps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3456432"/>
            <a:ext cx="4572000" cy="45720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3730752"/>
            <a:ext cx="475488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500" b="0">
                <a:solidFill>
                  <a:srgbClr val="F3F7FC"/>
                </a:solidFill>
                <a:latin typeface="Aptos"/>
              </a:rPr>
              <a:t>FastAPI  •  React  •  PostgreSQL
Docker  •  GitHub Actions  •  Kubernetes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11596" y="1273873"/>
            <a:ext cx="5687568" cy="3578733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10-ui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05877"/>
            <a:ext cx="5623560" cy="35147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6144768"/>
            <a:ext cx="5029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0">
                <a:solidFill>
                  <a:srgbClr val="ADBBCF"/>
                </a:solidFill>
                <a:latin typeface="Aptos"/>
              </a:rPr>
              <a:t>Project repository: github.com/tarun250/hostel_management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01 / SOURCE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GitHub repository and project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501605" y="1444752"/>
            <a:ext cx="9167452" cy="4553712"/>
          </a:xfrm>
          <a:prstGeom prst="roundRect">
            <a:avLst/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181" y="1481328"/>
            <a:ext cx="909430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126480"/>
            <a:ext cx="10698480" cy="25603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r>
              <a:rPr sz="1000" b="0">
                <a:solidFill>
                  <a:srgbClr val="ADBBCF"/>
                </a:solidFill>
                <a:latin typeface="Aptos"/>
              </a:rPr>
              <a:t>Repository: github.com/tarun250/hostel_management • Frontend, backend, Compose, CI/CD, Helm, Kubernetes, monitoring and Terraform files.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01 / PRODUCT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The problem and 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5303520" cy="448056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6634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000" b="1">
                <a:solidFill>
                  <a:srgbClr val="FFBE69"/>
                </a:solidFill>
                <a:latin typeface="Aptos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4572000" cy="3017520"/>
          </a:xfrm>
          <a:prstGeom prst="rect">
            <a:avLst/>
          </a:prstGeom>
          <a:noFill/>
        </p:spPr>
        <p:txBody>
          <a:bodyPr wrap="square" lIns="18288" tIns="18288" rIns="36576" bIns="18288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F3F7FC"/>
                </a:solidFill>
                <a:latin typeface="Aptos"/>
              </a:defRPr>
            </a:pPr>
            <a:r>
              <a:t>•  Hostel operations involve several disconnected records.</a:t>
            </a:r>
          </a:p>
          <a:p>
            <a:pPr>
              <a:spcAft>
                <a:spcPts val="1300"/>
              </a:spcAft>
              <a:defRPr sz="1600">
                <a:solidFill>
                  <a:srgbClr val="F3F7FC"/>
                </a:solidFill>
                <a:latin typeface="Aptos"/>
              </a:defRPr>
            </a:pPr>
            <a:r>
              <a:t>•  Room occupancy and available beds can be hard to track.</a:t>
            </a:r>
          </a:p>
          <a:p>
            <a:pPr>
              <a:spcAft>
                <a:spcPts val="1300"/>
              </a:spcAft>
              <a:defRPr sz="1600">
                <a:solidFill>
                  <a:srgbClr val="F3F7FC"/>
                </a:solidFill>
                <a:latin typeface="Aptos"/>
              </a:defRPr>
            </a:pPr>
            <a:r>
              <a:t>•  Maintenance, complaints, visitors and fees need follow-up.</a:t>
            </a:r>
          </a:p>
          <a:p>
            <a:pPr>
              <a:spcAft>
                <a:spcPts val="1300"/>
              </a:spcAft>
              <a:defRPr sz="1600">
                <a:solidFill>
                  <a:srgbClr val="F3F7FC"/>
                </a:solidFill>
                <a:latin typeface="Aptos"/>
              </a:defRPr>
            </a:pPr>
            <a:r>
              <a:t>•  Manual updates make it harder to see the current status.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303520" cy="448056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783080"/>
            <a:ext cx="46634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000" b="1">
                <a:solidFill>
                  <a:srgbClr val="70E0AA"/>
                </a:solidFill>
                <a:latin typeface="Aptos"/>
              </a:rPr>
              <a:t>The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31720"/>
            <a:ext cx="4572000" cy="3017520"/>
          </a:xfrm>
          <a:prstGeom prst="rect">
            <a:avLst/>
          </a:prstGeom>
          <a:noFill/>
        </p:spPr>
        <p:txBody>
          <a:bodyPr wrap="square" lIns="18288" tIns="18288" rIns="36576" bIns="18288">
            <a:spAutoFit/>
          </a:bodyPr>
          <a:lstStyle/>
          <a:p>
            <a:pPr>
              <a:spcAft>
                <a:spcPts val="1300"/>
              </a:spcAft>
              <a:defRPr sz="1600">
                <a:solidFill>
                  <a:srgbClr val="F3F7FC"/>
                </a:solidFill>
                <a:latin typeface="Aptos"/>
              </a:defRPr>
            </a:pPr>
            <a:r>
              <a:t>•  One web dashboard for common hostel workflows.</a:t>
            </a:r>
          </a:p>
          <a:p>
            <a:pPr>
              <a:spcAft>
                <a:spcPts val="1300"/>
              </a:spcAft>
              <a:defRPr sz="1600">
                <a:solidFill>
                  <a:srgbClr val="F3F7FC"/>
                </a:solidFill>
                <a:latin typeface="Aptos"/>
              </a:defRPr>
            </a:pPr>
            <a:r>
              <a:t>•  Capacity-aware room allocation and student records.</a:t>
            </a:r>
          </a:p>
          <a:p>
            <a:pPr>
              <a:spcAft>
                <a:spcPts val="1300"/>
              </a:spcAft>
              <a:defRPr sz="1600">
                <a:solidFill>
                  <a:srgbClr val="F3F7FC"/>
                </a:solidFill>
                <a:latin typeface="Aptos"/>
              </a:defRPr>
            </a:pPr>
            <a:r>
              <a:t>•  Track maintenance, complaints, visitors and fee status.</a:t>
            </a:r>
          </a:p>
          <a:p>
            <a:pPr>
              <a:spcAft>
                <a:spcPts val="1300"/>
              </a:spcAft>
              <a:defRPr sz="1600">
                <a:solidFill>
                  <a:srgbClr val="F3F7FC"/>
                </a:solidFill>
                <a:latin typeface="Aptos"/>
              </a:defRPr>
            </a:pPr>
            <a:r>
              <a:t>•  A containerized application with repeatable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02 / PRODUCT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What the application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54480"/>
            <a:ext cx="3566160" cy="1664208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31546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800" b="1">
                <a:solidFill>
                  <a:srgbClr val="F3F7FC"/>
                </a:solidFill>
                <a:latin typeface="Aptos"/>
              </a:rPr>
              <a:t>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31546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ADBBCF"/>
                </a:solidFill>
                <a:latin typeface="Aptos"/>
              </a:rPr>
              <a:t>Occupancy, free beds, dues and open issues.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554480"/>
            <a:ext cx="3566160" cy="1664208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1727" y="1719072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7" y="2057400"/>
            <a:ext cx="31546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800" b="1">
                <a:solidFill>
                  <a:srgbClr val="F3F7FC"/>
                </a:solidFill>
                <a:latin typeface="Aptos"/>
              </a:rPr>
              <a:t>Students &amp; 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2468880"/>
            <a:ext cx="31546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ADBBCF"/>
                </a:solidFill>
                <a:latin typeface="Aptos"/>
              </a:rPr>
              <a:t>Register students; allocate and vacate beds.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39327" y="1554480"/>
            <a:ext cx="3566160" cy="1664208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40496" y="1719072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2057400"/>
            <a:ext cx="31546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800" b="1">
                <a:solidFill>
                  <a:srgbClr val="F3F7FC"/>
                </a:solidFill>
                <a:latin typeface="Aptos"/>
              </a:rPr>
              <a:t>Maintenance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0496" y="2468880"/>
            <a:ext cx="31546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ADBBCF"/>
                </a:solidFill>
                <a:latin typeface="Aptos"/>
              </a:rPr>
              <a:t>Move requests through open, in progress and resolved.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611880"/>
            <a:ext cx="3566160" cy="1664208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776472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14800"/>
            <a:ext cx="31546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800" b="1">
                <a:solidFill>
                  <a:srgbClr val="F3F7FC"/>
                </a:solidFill>
                <a:latin typeface="Aptos"/>
              </a:rPr>
              <a:t>Complaints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31546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ADBBCF"/>
                </a:solidFill>
                <a:latin typeface="Aptos"/>
              </a:rPr>
              <a:t>Track issues from open to review and closure.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3611880"/>
            <a:ext cx="3566160" cy="1664208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1727" y="3776472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7" y="4114800"/>
            <a:ext cx="31546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800" b="1">
                <a:solidFill>
                  <a:srgbClr val="F3F7FC"/>
                </a:solidFill>
                <a:latin typeface="Aptos"/>
              </a:rPr>
              <a:t>Visitors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7" y="4526280"/>
            <a:ext cx="31546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ADBBCF"/>
                </a:solidFill>
                <a:latin typeface="Aptos"/>
              </a:rPr>
              <a:t>Log check-in and check-out.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39327" y="3611880"/>
            <a:ext cx="3566160" cy="1664208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40496" y="3776472"/>
            <a:ext cx="502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4114800"/>
            <a:ext cx="3154680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800" b="1">
                <a:solidFill>
                  <a:srgbClr val="F3F7FC"/>
                </a:solidFill>
                <a:latin typeface="Aptos"/>
              </a:rPr>
              <a:t>Fees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0496" y="4526280"/>
            <a:ext cx="315468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ADBBCF"/>
                </a:solidFill>
                <a:latin typeface="Aptos"/>
              </a:rPr>
              <a:t>Track pending and paid fees, including overdue status.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03 / HOW THE PIECES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971800" cy="914400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606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>
                <a:solidFill>
                  <a:srgbClr val="F3F7FC"/>
                </a:solidFill>
                <a:latin typeface="Aptos"/>
              </a:rPr>
              <a:t>Browser / React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554480"/>
            <a:ext cx="2971800" cy="914400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00600" y="1737360"/>
            <a:ext cx="2606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>
                <a:solidFill>
                  <a:srgbClr val="F3F7FC"/>
                </a:solidFill>
                <a:latin typeface="Aptos"/>
              </a:rPr>
              <a:t>FastAPI backend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554480"/>
            <a:ext cx="2971800" cy="914400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32520" y="1737360"/>
            <a:ext cx="26060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1">
                <a:solidFill>
                  <a:srgbClr val="F3F7FC"/>
                </a:solidFill>
                <a:latin typeface="Aptos"/>
              </a:rPr>
              <a:t>PostgreSQL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2011680"/>
            <a:ext cx="960120" cy="0"/>
          </a:xfrm>
          <a:prstGeom prst="line">
            <a:avLst/>
          </a:prstGeom>
          <a:ln w="25400">
            <a:solidFill>
              <a:srgbClr val="45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2011680"/>
            <a:ext cx="960120" cy="0"/>
          </a:xfrm>
          <a:prstGeom prst="line">
            <a:avLst/>
          </a:prstGeom>
          <a:ln w="25400">
            <a:solidFill>
              <a:srgbClr val="45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2880360"/>
            <a:ext cx="10789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0">
                <a:solidFill>
                  <a:srgbClr val="ADBBCF"/>
                </a:solidFill>
                <a:latin typeface="Aptos"/>
              </a:rPr>
              <a:t>Local development: Docker Compose runs the frontend, backend and database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10835640" cy="173736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730752"/>
            <a:ext cx="19202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500" b="1">
                <a:solidFill>
                  <a:srgbClr val="45D3E6"/>
                </a:solidFill>
                <a:latin typeface="Aptos"/>
              </a:rPr>
              <a:t>Delivery &amp;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675887"/>
            <a:ext cx="8229600" cy="1371600"/>
          </a:xfrm>
          <a:prstGeom prst="rect">
            <a:avLst/>
          </a:prstGeom>
          <a:noFill/>
        </p:spPr>
        <p:txBody>
          <a:bodyPr wrap="square" lIns="18288" tIns="18288" rIns="36576" bIns="18288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F3F7FC"/>
                </a:solidFill>
                <a:latin typeface="Aptos"/>
              </a:defRPr>
            </a:pPr>
            <a:r>
              <a:t>•  GitHub Actions tests, builds, scans and publishes container images.</a:t>
            </a:r>
          </a:p>
          <a:p>
            <a:pPr>
              <a:spcAft>
                <a:spcPts val="500"/>
              </a:spcAft>
              <a:defRPr sz="1300">
                <a:solidFill>
                  <a:srgbClr val="F3F7FC"/>
                </a:solidFill>
                <a:latin typeface="Aptos"/>
              </a:defRPr>
            </a:pPr>
            <a:r>
              <a:t>•  Helm deploys to Kubernetes; Argo CD supports GitOps sync.</a:t>
            </a:r>
          </a:p>
          <a:p>
            <a:pPr>
              <a:spcAft>
                <a:spcPts val="500"/>
              </a:spcAft>
              <a:defRPr sz="1300">
                <a:solidFill>
                  <a:srgbClr val="F3F7FC"/>
                </a:solidFill>
                <a:latin typeface="Aptos"/>
              </a:defRPr>
            </a:pPr>
            <a:r>
              <a:t>•  Prometheus scrapes metrics and Grafana visualizes them.</a:t>
            </a:r>
          </a:p>
          <a:p>
            <a:pPr>
              <a:spcAft>
                <a:spcPts val="500"/>
              </a:spcAft>
              <a:defRPr sz="1300">
                <a:solidFill>
                  <a:srgbClr val="F3F7FC"/>
                </a:solidFill>
                <a:latin typeface="Aptos"/>
              </a:defRPr>
            </a:pPr>
            <a:r>
              <a:t>•  Terraform defines AWS VPC and EKS infrastructure.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760720"/>
            <a:ext cx="10698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ADBBCF"/>
                </a:solidFill>
                <a:latin typeface="Aptos"/>
              </a:rPr>
              <a:t>The repository contains the code, Dockerfiles, workflow, Helm chart, monitoring config and Terraform files.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04 / STACK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Technology choices — and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527048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React + Vite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508760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Responsive interface with fast local development.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75688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2157984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FastAPI + SQLAlchemy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139696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Python API, validation, generated API docs and database access.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788920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770632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Relational data suits students, rooms, fees and their relationships.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37560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419856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Docker Compose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401568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Simple, reproducible local multi-container environment.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68496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4050791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Kubernetes + Helm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032504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Declarative rollout, service discovery, replicas and configuration.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99431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681727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GitHub Actions + Trivy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663440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Automated checks and vulnerability scanning in the delivery path.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230368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5312664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Prometheus + Grafana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294376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Collect application metrics and make operational signals visible.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05 / USER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The product in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5" y="1619631"/>
            <a:ext cx="6556248" cy="4121657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10-ui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1635"/>
            <a:ext cx="6492240" cy="405764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11796" y="1633347"/>
            <a:ext cx="1938527" cy="4094226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17-ui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665351"/>
            <a:ext cx="1874519" cy="40302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14916" y="3048381"/>
            <a:ext cx="1984248" cy="126415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11-ui-roo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080385"/>
            <a:ext cx="1920240" cy="1200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6080760"/>
            <a:ext cx="6400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Dashboard • mobile layout • room availability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06 / REAL APPLICATION 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Core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69364" y="1476756"/>
            <a:ext cx="3136392" cy="198424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12-ui-stu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368" y="1508760"/>
            <a:ext cx="3072384" cy="1920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47204" y="1476756"/>
            <a:ext cx="3136392" cy="198424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13-ui-mainte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1508760"/>
            <a:ext cx="3072384" cy="19202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769364" y="3671315"/>
            <a:ext cx="3136392" cy="198424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14-ui-complai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1368" y="3703320"/>
            <a:ext cx="3072384" cy="19202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347204" y="3671315"/>
            <a:ext cx="3136392" cy="198424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16-ui-fe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9208" y="3703320"/>
            <a:ext cx="3072384" cy="1920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" y="5925312"/>
            <a:ext cx="10515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Student records • maintenance requests • complaints • fee tracking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07 / 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Backend API and automated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4237" y="1449324"/>
            <a:ext cx="3834661" cy="294436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8-swagger-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241" y="1481328"/>
            <a:ext cx="3770653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75639" y="1449324"/>
            <a:ext cx="4170961" cy="294436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1-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643" y="1481328"/>
            <a:ext cx="4106953" cy="2880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5800" y="4617720"/>
            <a:ext cx="10789920" cy="105156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828032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400" b="1">
                <a:solidFill>
                  <a:srgbClr val="45D3E6"/>
                </a:solidFill>
                <a:latin typeface="Aptos"/>
              </a:rPr>
              <a:t>API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4773168"/>
            <a:ext cx="283464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F3F7FC"/>
                </a:solidFill>
                <a:latin typeface="Aptos"/>
              </a:rPr>
              <a:t>Health and readiness endpoints; interactive Swagger documentation.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828032"/>
            <a:ext cx="1645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400" b="1">
                <a:solidFill>
                  <a:srgbClr val="70E0AA"/>
                </a:solidFill>
                <a:latin typeface="Aptos"/>
              </a:rPr>
              <a:t>Test 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773168"/>
            <a:ext cx="365760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F3F7FC"/>
                </a:solidFill>
                <a:latin typeface="Aptos"/>
              </a:rPr>
              <a:t>README reports 22 pytest tests using in-memory SQLite, not the real database.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08 / REPEATABLE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Local environment with Docker Compose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986" y="1412748"/>
            <a:ext cx="4900603" cy="417880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2-compose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990" y="1444752"/>
            <a:ext cx="4836595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14516" y="3179715"/>
            <a:ext cx="5138928" cy="644872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03-compose-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211719"/>
            <a:ext cx="5074920" cy="580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8" y="5760720"/>
            <a:ext cx="1078992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ADBBCF"/>
                </a:solidFill>
                <a:latin typeface="Aptos"/>
              </a:rPr>
              <a:t>One command builds and starts the frontend, API and PostgreSQL; compose ps confirms container status.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09 / FROM COMMIT TO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CI/CD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691640"/>
            <a:ext cx="2011680" cy="137160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856231"/>
            <a:ext cx="38404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76272"/>
            <a:ext cx="16916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700" b="1">
                <a:solidFill>
                  <a:srgbClr val="F3F7FC"/>
                </a:solidFill>
                <a:latin typeface="Aptos"/>
              </a:rPr>
              <a:t>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578608"/>
            <a:ext cx="16916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ruff + pytest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33472" y="2377440"/>
            <a:ext cx="292608" cy="0"/>
          </a:xfrm>
          <a:prstGeom prst="line">
            <a:avLst/>
          </a:prstGeom>
          <a:ln w="25400">
            <a:solidFill>
              <a:srgbClr val="45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1691640"/>
            <a:ext cx="2011680" cy="137160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90672" y="1856231"/>
            <a:ext cx="38404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2176272"/>
            <a:ext cx="16916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700" b="1">
                <a:solidFill>
                  <a:srgbClr val="F3F7FC"/>
                </a:solidFill>
                <a:latin typeface="Aptos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2578608"/>
            <a:ext cx="16916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Frontend + images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37760" y="2377440"/>
            <a:ext cx="292608" cy="0"/>
          </a:xfrm>
          <a:prstGeom prst="line">
            <a:avLst/>
          </a:prstGeom>
          <a:ln w="25400">
            <a:solidFill>
              <a:srgbClr val="45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30368" y="1691640"/>
            <a:ext cx="2011680" cy="137160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94959" y="1856231"/>
            <a:ext cx="38404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2176272"/>
            <a:ext cx="16916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700" b="1">
                <a:solidFill>
                  <a:srgbClr val="F3F7FC"/>
                </a:solidFill>
                <a:latin typeface="Aptos"/>
              </a:rPr>
              <a:t>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59" y="2578608"/>
            <a:ext cx="16916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Trivy security gate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42048" y="2377440"/>
            <a:ext cx="292608" cy="0"/>
          </a:xfrm>
          <a:prstGeom prst="line">
            <a:avLst/>
          </a:prstGeom>
          <a:ln w="25400">
            <a:solidFill>
              <a:srgbClr val="45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534656" y="1691640"/>
            <a:ext cx="2011680" cy="137160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99248" y="1856231"/>
            <a:ext cx="38404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2176272"/>
            <a:ext cx="16916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700" b="1">
                <a:solidFill>
                  <a:srgbClr val="F3F7FC"/>
                </a:solidFill>
                <a:latin typeface="Aptos"/>
              </a:rPr>
              <a:t>Publish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9248" y="2578608"/>
            <a:ext cx="16916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GHCR on main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546336" y="2377440"/>
            <a:ext cx="292608" cy="0"/>
          </a:xfrm>
          <a:prstGeom prst="line">
            <a:avLst/>
          </a:prstGeom>
          <a:ln w="25400">
            <a:solidFill>
              <a:srgbClr val="45D3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838944" y="1691640"/>
            <a:ext cx="2011680" cy="137160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03536" y="1856231"/>
            <a:ext cx="384048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3536" y="2176272"/>
            <a:ext cx="16916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700" b="1">
                <a:solidFill>
                  <a:srgbClr val="F3F7FC"/>
                </a:solidFill>
                <a:latin typeface="Aptos"/>
              </a:rPr>
              <a:t>Deploy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03536" y="2578608"/>
            <a:ext cx="169164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kind + Helm + smoke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33879" y="3396996"/>
            <a:ext cx="3487521" cy="244144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50-github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883" y="3429000"/>
            <a:ext cx="3423513" cy="237744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511796" y="3950716"/>
            <a:ext cx="1892807" cy="133400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51-ghcr-back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3982720"/>
            <a:ext cx="1828800" cy="1270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9523476" y="3950716"/>
            <a:ext cx="1892807" cy="133400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52-ghcr-front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982720"/>
            <a:ext cx="1828800" cy="1270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31520" y="5989320"/>
            <a:ext cx="10789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0">
                <a:solidFill>
                  <a:srgbClr val="ADBBCF"/>
                </a:solidFill>
                <a:latin typeface="Aptos"/>
              </a:rPr>
              <a:t>Repository README links the latest green GitHub Actions run; images are published to GitHub Container Registry.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10 / IMAGE SCANNING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Security checks in the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765" y="1476756"/>
            <a:ext cx="5483308" cy="335584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20-trivy-back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69" y="1508760"/>
            <a:ext cx="541930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31636" y="1869689"/>
            <a:ext cx="5367528" cy="2569980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21-trivy-front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01693"/>
            <a:ext cx="5303520" cy="25059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3232" y="5074920"/>
            <a:ext cx="10744200" cy="77724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5285232"/>
            <a:ext cx="10287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README reports 0 fixable HIGH/CRITICAL CVEs in the final backend and frontend scans. The CI gate uses Trivy with --ignore-unfixed.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6016752"/>
            <a:ext cx="106984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0">
                <a:solidFill>
                  <a:srgbClr val="ADBBCF"/>
                </a:solidFill>
                <a:latin typeface="Aptos"/>
              </a:rPr>
              <a:t>Images run as non-root users; backend runtime removes pip to reduce unnecessary packages.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11 /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Kubernetes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5" y="1872796"/>
            <a:ext cx="5413248" cy="1695087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40-kubectl-get-p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04800"/>
            <a:ext cx="5349240" cy="16310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59264" y="1476756"/>
            <a:ext cx="5020830" cy="248716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41-kubectl-get-svc-in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268" y="1508760"/>
            <a:ext cx="4956822" cy="24231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400299" y="4219956"/>
            <a:ext cx="2331720" cy="148132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43-ingress-brow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303" y="4251960"/>
            <a:ext cx="2267712" cy="14173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68796" y="4543344"/>
            <a:ext cx="5001768" cy="834550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42-helm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575348"/>
            <a:ext cx="4937760" cy="7705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989320"/>
            <a:ext cx="106984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Helm chart manages the application resources; Ingress routes browser traffic to the frontend and /api to FastAPI.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12 / DESIGN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Why Kubernetes instead of only Docker Compose?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212080" cy="434340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572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000" b="1">
                <a:solidFill>
                  <a:srgbClr val="FFBE69"/>
                </a:solidFill>
                <a:latin typeface="Aptos"/>
              </a:rPr>
              <a:t>Docker Compose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526280" cy="2834640"/>
          </a:xfrm>
          <a:prstGeom prst="rect">
            <a:avLst/>
          </a:prstGeom>
          <a:noFill/>
        </p:spPr>
        <p:txBody>
          <a:bodyPr wrap="square" lIns="18288" tIns="18288" rIns="36576" bIns="18288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F3F7FC"/>
                </a:solidFill>
                <a:latin typeface="Aptos"/>
              </a:defRPr>
            </a:pPr>
            <a:r>
              <a:t>•  Best for local development and demos.</a:t>
            </a:r>
          </a:p>
          <a:p>
            <a:pPr>
              <a:spcAft>
                <a:spcPts val="1100"/>
              </a:spcAft>
              <a:defRPr sz="1500">
                <a:solidFill>
                  <a:srgbClr val="F3F7FC"/>
                </a:solidFill>
                <a:latin typeface="Aptos"/>
              </a:defRPr>
            </a:pPr>
            <a:r>
              <a:t>•  Starts related containers with a simple config.</a:t>
            </a:r>
          </a:p>
          <a:p>
            <a:pPr>
              <a:spcAft>
                <a:spcPts val="1100"/>
              </a:spcAft>
              <a:defRPr sz="1500">
                <a:solidFill>
                  <a:srgbClr val="F3F7FC"/>
                </a:solidFill>
                <a:latin typeface="Aptos"/>
              </a:defRPr>
            </a:pPr>
            <a:r>
              <a:t>•  Does not provide the same orchestration model for scaling and self-healing across nodes.</a:t>
            </a:r>
          </a:p>
          <a:p>
            <a:pPr>
              <a:spcAft>
                <a:spcPts val="1100"/>
              </a:spcAft>
              <a:defRPr sz="1500">
                <a:solidFill>
                  <a:srgbClr val="F3F7FC"/>
                </a:solidFill>
                <a:latin typeface="Aptos"/>
              </a:defRPr>
            </a:pPr>
            <a:r>
              <a:t>•  Used here for the local developer experience.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212080" cy="434340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572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000" b="1">
                <a:solidFill>
                  <a:srgbClr val="70E0AA"/>
                </a:solidFill>
                <a:latin typeface="Aptos"/>
              </a:rPr>
              <a:t>Kubernetes + Helm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526280" cy="2834640"/>
          </a:xfrm>
          <a:prstGeom prst="rect">
            <a:avLst/>
          </a:prstGeom>
          <a:noFill/>
        </p:spPr>
        <p:txBody>
          <a:bodyPr wrap="square" lIns="18288" tIns="18288" rIns="36576" bIns="18288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F3F7FC"/>
                </a:solidFill>
                <a:latin typeface="Aptos"/>
              </a:defRPr>
            </a:pPr>
            <a:r>
              <a:t>•  Declarative deployments and replica management.</a:t>
            </a:r>
          </a:p>
          <a:p>
            <a:pPr>
              <a:spcAft>
                <a:spcPts val="1100"/>
              </a:spcAft>
              <a:defRPr sz="1500">
                <a:solidFill>
                  <a:srgbClr val="F3F7FC"/>
                </a:solidFill>
                <a:latin typeface="Aptos"/>
              </a:defRPr>
            </a:pPr>
            <a:r>
              <a:t>•  Services and Ingress provide stable routing.</a:t>
            </a:r>
          </a:p>
          <a:p>
            <a:pPr>
              <a:spcAft>
                <a:spcPts val="1100"/>
              </a:spcAft>
              <a:defRPr sz="1500">
                <a:solidFill>
                  <a:srgbClr val="F3F7FC"/>
                </a:solidFill>
                <a:latin typeface="Aptos"/>
              </a:defRPr>
            </a:pPr>
            <a:r>
              <a:t>•  Supports resource-driven scaling and rollout controls.</a:t>
            </a:r>
          </a:p>
          <a:p>
            <a:pPr>
              <a:spcAft>
                <a:spcPts val="1100"/>
              </a:spcAft>
              <a:defRPr sz="1500">
                <a:solidFill>
                  <a:srgbClr val="F3F7FC"/>
                </a:solidFill>
                <a:latin typeface="Aptos"/>
              </a:defRPr>
            </a:pPr>
            <a:r>
              <a:t>•  Helm packages resources and values for repeatable environments.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62472"/>
            <a:ext cx="10607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Decision: use Compose to run locally; use Kubernetes to demonstrate production-style orchestration.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13 / OPERATE AND RECONCILE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Monitoring and GitOps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5" y="1759521"/>
            <a:ext cx="3584448" cy="1775333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45-prometheus-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91525"/>
            <a:ext cx="3520440" cy="17113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366260" y="1449324"/>
            <a:ext cx="3794760" cy="2395727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46-grafana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481328"/>
            <a:ext cx="3730752" cy="2331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334756" y="1872753"/>
            <a:ext cx="3218688" cy="1548869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47-argocd-app-sync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904757"/>
            <a:ext cx="3154680" cy="14848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4069080"/>
            <a:ext cx="3200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500" b="1">
                <a:solidFill>
                  <a:srgbClr val="45D3E6"/>
                </a:solidFill>
                <a:latin typeface="Aptos"/>
              </a:rPr>
              <a:t>Prometheus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310896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F3F7FC"/>
                </a:solidFill>
                <a:latin typeface="Aptos"/>
              </a:rPr>
              <a:t>Scrapes backend metrics at /metrics.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069080"/>
            <a:ext cx="3200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500" b="1">
                <a:solidFill>
                  <a:srgbClr val="45D3E6"/>
                </a:solidFill>
                <a:latin typeface="Aptos"/>
              </a:rPr>
              <a:t>Grafana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434840"/>
            <a:ext cx="310896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F3F7FC"/>
                </a:solidFill>
                <a:latin typeface="Aptos"/>
              </a:rPr>
              <a:t>Visualizes request rate, latency and error signals.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069080"/>
            <a:ext cx="3200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500" b="1">
                <a:solidFill>
                  <a:srgbClr val="45D3E6"/>
                </a:solidFill>
                <a:latin typeface="Aptos"/>
              </a:rPr>
              <a:t>Argo 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434840"/>
            <a:ext cx="3108960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0">
                <a:solidFill>
                  <a:srgbClr val="F3F7FC"/>
                </a:solidFill>
                <a:latin typeface="Aptos"/>
              </a:rPr>
              <a:t>Watches Helm config and syncs desired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440680"/>
            <a:ext cx="10698480" cy="50292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559552"/>
            <a:ext cx="102412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Monitoring and GitOps are separate concerns: one shows system health; the other reconciles deployment configuration.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14 / CLOUD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Infrastructure as code: Terraform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" y="1907308"/>
            <a:ext cx="5230368" cy="1168862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24-terraform-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39312"/>
            <a:ext cx="5166360" cy="110485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73767" y="1431036"/>
            <a:ext cx="2300385" cy="212140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30-terraform-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771" y="1463040"/>
            <a:ext cx="2236377" cy="2057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470167" y="3762756"/>
            <a:ext cx="1597625" cy="1892807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31-terraform-app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2171" y="3794760"/>
            <a:ext cx="1533617" cy="1828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759471" y="3762756"/>
            <a:ext cx="2128977" cy="1892807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solidFill>
              <a:srgbClr val="4053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34-terraform-destro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1475" y="3794760"/>
            <a:ext cx="2064969" cy="18288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" y="5870448"/>
            <a:ext cx="10698480" cy="438912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" y="5952744"/>
            <a:ext cx="103327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FFBE69"/>
                </a:solidFill>
                <a:latin typeface="Aptos"/>
              </a:rPr>
              <a:t>Important scope note: README states Terraform was exercised against Moto mock services; this is not proof of a live AWS EKS deployment.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15 /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What was demonstrated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257800" cy="429768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572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000" b="1">
                <a:solidFill>
                  <a:srgbClr val="70E0AA"/>
                </a:solidFill>
                <a:latin typeface="Aptos"/>
              </a:rPr>
              <a:t>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526280" cy="2926080"/>
          </a:xfrm>
          <a:prstGeom prst="rect">
            <a:avLst/>
          </a:prstGeom>
          <a:noFill/>
        </p:spPr>
        <p:txBody>
          <a:bodyPr wrap="square" lIns="18288" tIns="18288" rIns="36576" bIns="18288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Working hostel-management UI and REST API.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Automated backend tests and frontend build.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Docker images and Trivy scanning in CI.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Local Kubernetes deployment through Helm/kind or Minikube workflows.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Prometheus/Grafana configuration and Argo CD GitOps files.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Terraform definitions for VPC and EKS.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212080" cy="4297680"/>
          </a:xfrm>
          <a:prstGeom prst="roundRect">
            <a:avLst>
              <a:gd name="adj" fmla="val 12000"/>
            </a:avLst>
          </a:prstGeom>
          <a:solidFill>
            <a:srgbClr val="172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572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000" b="1">
                <a:solidFill>
                  <a:srgbClr val="FFBE69"/>
                </a:solidFill>
                <a:latin typeface="Aptos"/>
              </a:rPr>
              <a:t>Honest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526280" cy="2926080"/>
          </a:xfrm>
          <a:prstGeom prst="rect">
            <a:avLst/>
          </a:prstGeom>
          <a:noFill/>
        </p:spPr>
        <p:txBody>
          <a:bodyPr wrap="square" lIns="18288" tIns="18288" rIns="36576" bIns="18288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The CI workflow deploys to kind for smoke tests.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Kubernetes screenshots show local cluster runs.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Terraform screenshots show validation and Moto-backed testing.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No live AWS account/EKS deployment is evidenced by these screenshots.</a:t>
            </a:r>
          </a:p>
          <a:p>
            <a:pPr>
              <a:spcAft>
                <a:spcPts val="900"/>
              </a:spcAft>
              <a:defRPr sz="1400">
                <a:solidFill>
                  <a:srgbClr val="F3F7FC"/>
                </a:solidFill>
                <a:latin typeface="Aptos"/>
              </a:defRPr>
            </a:pPr>
            <a:r>
              <a:t>•  This separation avoids claiming a cloud deployment that was not demonstrated.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80760"/>
            <a:ext cx="106984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100" b="0">
                <a:solidFill>
                  <a:srgbClr val="ADBBCF"/>
                </a:solidFill>
                <a:latin typeface="Aptos"/>
              </a:rPr>
              <a:t>Repository: github.com/tarun250/hostel_management  •  README includes setup, screenshots and operational commands.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3800" b="1">
                <a:solidFill>
                  <a:srgbClr val="F3F7FC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98755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000" b="0">
                <a:solidFill>
                  <a:srgbClr val="ADBBCF"/>
                </a:solidFill>
                <a:latin typeface="Aptos"/>
              </a:rPr>
              <a:t>HostelHub — a full-stack application with an automated DevOps delivery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2412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github.com/tarun250/hostel_management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8813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000" b="1">
                <a:solidFill>
                  <a:srgbClr val="45D3E6"/>
                </a:solidFill>
                <a:latin typeface="Aptos"/>
              </a:rPr>
              <a:t>04 / STACK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2700" b="1">
                <a:solidFill>
                  <a:srgbClr val="F3F7FC"/>
                </a:solidFill>
                <a:latin typeface="Aptos"/>
              </a:rPr>
              <a:t>Alternatives considered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45D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900" b="1">
                <a:solidFill>
                  <a:srgbClr val="ADBBCF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527048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FastAPI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508760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over Flask / Django: typed validation and Swagger docs built 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75688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2157984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React + 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139696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over Angular / plain HTML: lighter, fast dev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788920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770632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over MySQL / MongoDB: relational data with strict constraints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37560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419856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GitHub 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401568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over Jenkins: lives next to the code, no CI server to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68496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4050791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Kubernetes + Helm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4032504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over Docker Swarm: industry standard, one chart for every env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99431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681727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Argo 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663440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over Flux / push deploys: UI shows sync state and drift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230368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1D2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5312664"/>
            <a:ext cx="22402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200" b="1">
                <a:solidFill>
                  <a:srgbClr val="45D3E6"/>
                </a:solidFill>
                <a:latin typeface="Aptos"/>
              </a:rPr>
              <a:t>Terraform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294376"/>
            <a:ext cx="79095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1300" b="0">
                <a:solidFill>
                  <a:srgbClr val="F3F7FC"/>
                </a:solidFill>
                <a:latin typeface="Aptos"/>
              </a:rPr>
              <a:t>over CloudFormation: cloud-agnostic, reusable VPC/EKS modules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1032</Words>
  <Application>Microsoft Office PowerPoint</Application>
  <PresentationFormat>Widescreen</PresentationFormat>
  <Paragraphs>168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tarun gupta</cp:lastModifiedBy>
  <cp:revision>2</cp:revision>
  <dcterms:created xsi:type="dcterms:W3CDTF">2013-01-27T09:14:16Z</dcterms:created>
  <dcterms:modified xsi:type="dcterms:W3CDTF">2026-10-17T09:25:57Z</dcterms:modified>
  <cp:category/>
</cp:coreProperties>
</file>